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qOyW432OJ/ptW/tX9yIVg0+oA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f74d896a37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g3f74d896a37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f74d896a37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23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23.png"/><Relationship Id="rId5" Type="http://schemas.openxmlformats.org/officeDocument/2006/relationships/image" Target="../media/image15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343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166360" y="914400"/>
            <a:ext cx="1828800" cy="18288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brain_FFFFFF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1848" y="1389888"/>
            <a:ext cx="877824" cy="87782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731520" y="288036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Mentes Conectadas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361188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os Segredos da Inteligência Artificial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166360" y="4343400"/>
            <a:ext cx="1828800" cy="27432"/>
          </a:xfrm>
          <a:prstGeom prst="rect">
            <a:avLst/>
          </a:prstGeom>
          <a:solidFill>
            <a:srgbClr val="0B5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Encontro 1  •  O que é Inteligência Artificial, afinal?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C7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FC7C4"/>
                </a:solidFill>
                <a:latin typeface="Calibri"/>
                <a:ea typeface="Calibri"/>
                <a:cs typeface="Calibri"/>
                <a:sym typeface="Calibri"/>
              </a:rPr>
              <a:t>ECIT José Rodrigues de Ataíde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APRESENTAÇÃO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Quem vai conduzir a oficina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1600200"/>
            <a:ext cx="3566160" cy="4617720"/>
          </a:xfrm>
          <a:prstGeom prst="roundRect">
            <a:avLst>
              <a:gd fmla="val 3846" name="adj"/>
            </a:avLst>
          </a:prstGeom>
          <a:solidFill>
            <a:srgbClr val="0234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1417320" y="2148840"/>
            <a:ext cx="1828800" cy="18288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1417320" y="2148840"/>
            <a:ext cx="1828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777240" y="420624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Rafael de Arruda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Sobral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77240" y="516636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Professor de Língua Inglesa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na EJA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434840" y="1737360"/>
            <a:ext cx="777240" cy="7772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cap_FFFFFF.png" id="36" name="Google Shape;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6922" y="1939442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5394960" y="1691640"/>
            <a:ext cx="6035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Graduado em Letras – Inglês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394960" y="2121408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Universidade Federal de Campina Grande (UFCG)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434840" y="2852928"/>
            <a:ext cx="777240" cy="7772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laptop_FFFFFF.png" id="40" name="Google Shape;4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6922" y="3055010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5394960" y="2807208"/>
            <a:ext cx="6035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Graduando em Ciência da Computação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394960" y="3236976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Universidade Federal de Campina Grande (UFCG)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434840" y="3968496"/>
            <a:ext cx="777240" cy="7772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flask_FFFFFF.png" id="44" name="Google Shape;4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36922" y="4170578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5394960" y="3922776"/>
            <a:ext cx="6035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Membro do LACINA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394960" y="4352544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Laboratório de Computação Inteligente Aplicada (UFCG)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434840" y="5084064"/>
            <a:ext cx="777240" cy="7772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building_FFFFFF.png" id="48" name="Google Shape;4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36922" y="5286146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/>
          <p:nvPr/>
        </p:nvSpPr>
        <p:spPr>
          <a:xfrm>
            <a:off x="5394960" y="5038344"/>
            <a:ext cx="6035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Engenheiro de Software e De</a:t>
            </a:r>
            <a:r>
              <a:rPr b="1" lang="en-US" sz="1600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senvolvedor</a:t>
            </a:r>
            <a:r>
              <a:rPr b="1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 de IA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394960" y="5468112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Dell Brasil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Encontro 1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ack cat is sitting in front of a laptop computer on a table . (provided by Tenor)" id="53" name="Google Shape;53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4850" y="2110750"/>
            <a:ext cx="333375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ROTEIRO DO ENCONTRO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O que vamos fazer hoje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48640" y="1600200"/>
            <a:ext cx="1828800" cy="566928"/>
          </a:xfrm>
          <a:prstGeom prst="roundRect">
            <a:avLst>
              <a:gd fmla="val 16129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548640" y="1600200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0–10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2606040" y="1600200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Abertura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989320" y="1600200"/>
            <a:ext cx="5669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Conversa inicial: onde já usamos IA sem perceber?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48640" y="2359152"/>
            <a:ext cx="1828800" cy="566928"/>
          </a:xfrm>
          <a:prstGeom prst="roundRect">
            <a:avLst>
              <a:gd fmla="val 16129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548640" y="2359152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10–35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2606040" y="2359152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Caça aos conceitos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989320" y="2359152"/>
            <a:ext cx="5669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Pesquisa em grupo usando Claude e ChatGPT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48640" y="3118104"/>
            <a:ext cx="1828800" cy="566928"/>
          </a:xfrm>
          <a:prstGeom prst="roundRect">
            <a:avLst>
              <a:gd fmla="val 16129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548640" y="3118104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35–50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2606040" y="3118104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Nuvem de palavras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989320" y="3118104"/>
            <a:ext cx="5669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Construção do glossário coletivo no Google Colab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48640" y="3877056"/>
            <a:ext cx="1828800" cy="566928"/>
          </a:xfrm>
          <a:prstGeom prst="roundRect">
            <a:avLst>
              <a:gd fmla="val 16129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548640" y="3877056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50–75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2606040" y="3877056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Engenharia de features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989320" y="3877056"/>
            <a:ext cx="5669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O que são as "características" que uma IA observa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48640" y="4636008"/>
            <a:ext cx="1828800" cy="566928"/>
          </a:xfrm>
          <a:prstGeom prst="roundRect">
            <a:avLst>
              <a:gd fmla="val 16129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548640" y="4636008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75–90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2606040" y="4636008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Atividade: Vira Feature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989320" y="4636008"/>
            <a:ext cx="5669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Prática em grupo no Google Colab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48640" y="5394960"/>
            <a:ext cx="1828800" cy="566928"/>
          </a:xfrm>
          <a:prstGeom prst="roundRect">
            <a:avLst>
              <a:gd fmla="val 16129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548640" y="5394960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90–100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2606040" y="5394960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Fechamento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5989320" y="5394960"/>
            <a:ext cx="5669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Recapitulação e prévia do próximo encontro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Encontro 1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ABERTURA  •  0–10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48640" y="73152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Vocês já usam Inteligência Artificial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sem perceber?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48640" y="2697480"/>
            <a:ext cx="2468880" cy="3017520"/>
          </a:xfrm>
          <a:prstGeom prst="roundRect">
            <a:avLst>
              <a:gd fmla="val 4444" name="adj"/>
            </a:avLst>
          </a:prstGeom>
          <a:solidFill>
            <a:srgbClr val="EAF6F4"/>
          </a:solidFill>
          <a:ln>
            <a:noFill/>
          </a:ln>
          <a:effectLst>
            <a:outerShdw blurRad="76200" rotWithShape="0" algn="bl" dir="5400000" dist="25400">
              <a:srgbClr val="1B2B2C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1325880" y="3017520"/>
            <a:ext cx="914400" cy="9144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comments_FFFFFF.png" id="96" name="Google Shape;9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3624" y="325526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"/>
          <p:cNvSpPr/>
          <p:nvPr/>
        </p:nvSpPr>
        <p:spPr>
          <a:xfrm>
            <a:off x="685800" y="4114800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WhatsApp / Instagram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85800" y="4846320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Sugestão de respostas e filtros automáticos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273552" y="2697480"/>
            <a:ext cx="2468880" cy="3017520"/>
          </a:xfrm>
          <a:prstGeom prst="roundRect">
            <a:avLst>
              <a:gd fmla="val 4444" name="adj"/>
            </a:avLst>
          </a:prstGeom>
          <a:solidFill>
            <a:srgbClr val="EAF6F4"/>
          </a:solidFill>
          <a:ln>
            <a:noFill/>
          </a:ln>
          <a:effectLst>
            <a:outerShdw blurRad="76200" rotWithShape="0" algn="bl" dir="5400000" dist="25400">
              <a:srgbClr val="1B2B2C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4050792" y="3017520"/>
            <a:ext cx="914400" cy="9144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cloud_FFFFFF.png" id="101" name="Google Shape;10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536" y="325526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/>
          <p:nvPr/>
        </p:nvSpPr>
        <p:spPr>
          <a:xfrm>
            <a:off x="3410712" y="4114800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Streaming (Netflix, Spotify)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410712" y="4846320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Recomendação de filmes e músicas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998464" y="2697480"/>
            <a:ext cx="2468880" cy="3017520"/>
          </a:xfrm>
          <a:prstGeom prst="roundRect">
            <a:avLst>
              <a:gd fmla="val 4444" name="adj"/>
            </a:avLst>
          </a:prstGeom>
          <a:solidFill>
            <a:srgbClr val="EAF6F4"/>
          </a:solidFill>
          <a:ln>
            <a:noFill/>
          </a:ln>
          <a:effectLst>
            <a:outerShdw blurRad="76200" rotWithShape="0" algn="bl" dir="5400000" dist="25400">
              <a:srgbClr val="1B2B2C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6775704" y="3017520"/>
            <a:ext cx="914400" cy="9144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search_FFFFFF.png" id="106" name="Google Shape;10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13448" y="325526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/>
          <p:nvPr/>
        </p:nvSpPr>
        <p:spPr>
          <a:xfrm>
            <a:off x="6135624" y="4114800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Google / Google Maps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135624" y="4846320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Busca e rotas mais rápidas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8723376" y="2697480"/>
            <a:ext cx="2468880" cy="3017520"/>
          </a:xfrm>
          <a:prstGeom prst="roundRect">
            <a:avLst>
              <a:gd fmla="val 4444" name="adj"/>
            </a:avLst>
          </a:prstGeom>
          <a:solidFill>
            <a:srgbClr val="EAF6F4"/>
          </a:solidFill>
          <a:ln>
            <a:noFill/>
          </a:ln>
          <a:effectLst>
            <a:outerShdw blurRad="76200" rotWithShape="0" algn="bl" dir="5400000" dist="25400">
              <a:srgbClr val="1B2B2C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9500616" y="3017520"/>
            <a:ext cx="914400" cy="9144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robot_FFFFFF.png" id="111" name="Google Shape;11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38360" y="325526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8860536" y="4114800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Assistentes de voz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8860536" y="4846320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Siri, Alexa, Google Assistente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Encontro 1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ATIVIDADE 1  •  10–35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Caça aos conceitos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548640" y="1298448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Vamos usar IA para entender a própria IA.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548640" y="1874520"/>
            <a:ext cx="685800" cy="6858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users_FFFFFF.png" id="125" name="Google Shape;1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948" y="20528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"/>
          <p:cNvSpPr/>
          <p:nvPr/>
        </p:nvSpPr>
        <p:spPr>
          <a:xfrm>
            <a:off x="1051560" y="17830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417320" y="1819656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Formem duplas ou trios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417320" y="2203704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Cada grupo receberá 1 termo para pesquisar.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548640" y="2898648"/>
            <a:ext cx="685800" cy="6858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search_FFFFFF.png" id="130" name="Google Shape;13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948" y="3076956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/>
          <p:nvPr/>
        </p:nvSpPr>
        <p:spPr>
          <a:xfrm>
            <a:off x="1051560" y="280720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417320" y="2843784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Pesquisem no Claude ou ChatGPT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1417320" y="3227832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Peçam uma explicação simples do termo, com exemplos do dia a dia.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48640" y="3922776"/>
            <a:ext cx="685800" cy="6858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list_FFFFFF.png" id="135" name="Google Shape;13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6948" y="4101084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"/>
          <p:cNvSpPr/>
          <p:nvPr/>
        </p:nvSpPr>
        <p:spPr>
          <a:xfrm>
            <a:off x="1051560" y="383133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1417320" y="3867912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Anotem a explicação com suas palavras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417320" y="4251960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Reescrevam a resposta da IA de um jeito mais simples, como vocês explicariam para um amigo.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48640" y="4946904"/>
            <a:ext cx="685800" cy="6858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comments_FFFFFF.png" id="140" name="Google Shape;14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6948" y="512521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/>
          <p:nvPr/>
        </p:nvSpPr>
        <p:spPr>
          <a:xfrm>
            <a:off x="1051560" y="485546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1417320" y="4892040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Preparem-se para compartilhar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1417320" y="5276088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Cada grupo vai apresentar sua explicação para a turma.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Encontro 1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ATIVIDADE 1  •  TERMOS DA TURMA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Termos para pesquisar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548640" y="1965960"/>
            <a:ext cx="2606040" cy="1051560"/>
          </a:xfrm>
          <a:prstGeom prst="roundRect">
            <a:avLst>
              <a:gd fmla="val 8696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658368" y="1965960"/>
            <a:ext cx="238658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Inteligência Artificial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3337560" y="1965960"/>
            <a:ext cx="2606040" cy="1051560"/>
          </a:xfrm>
          <a:prstGeom prst="roundRect">
            <a:avLst>
              <a:gd fmla="val 8696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3447288" y="1965960"/>
            <a:ext cx="238658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Algoritmo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6126480" y="1965960"/>
            <a:ext cx="2606040" cy="1051560"/>
          </a:xfrm>
          <a:prstGeom prst="roundRect">
            <a:avLst>
              <a:gd fmla="val 8696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6236208" y="1965960"/>
            <a:ext cx="238658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Dado (Dataset)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8915400" y="1965960"/>
            <a:ext cx="2606040" cy="1051560"/>
          </a:xfrm>
          <a:prstGeom prst="roundRect">
            <a:avLst>
              <a:gd fmla="val 8696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9025128" y="1965960"/>
            <a:ext cx="238658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 de 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48640" y="3246120"/>
            <a:ext cx="2606040" cy="1051560"/>
          </a:xfrm>
          <a:prstGeom prst="roundRect">
            <a:avLst>
              <a:gd fmla="val 8696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658368" y="3246120"/>
            <a:ext cx="238658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3337560" y="3246120"/>
            <a:ext cx="2606040" cy="1051560"/>
          </a:xfrm>
          <a:prstGeom prst="roundRect">
            <a:avLst>
              <a:gd fmla="val 8696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3447288" y="3246120"/>
            <a:ext cx="238658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Rede Neural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6126480" y="3246120"/>
            <a:ext cx="2606040" cy="1051560"/>
          </a:xfrm>
          <a:prstGeom prst="roundRect">
            <a:avLst>
              <a:gd fmla="val 8696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6236208" y="3246120"/>
            <a:ext cx="238658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Large Language Model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Encontro 1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8915405" y="3246145"/>
            <a:ext cx="2606100" cy="1051500"/>
          </a:xfrm>
          <a:prstGeom prst="roundRect">
            <a:avLst>
              <a:gd fmla="val 8696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9025133" y="3246145"/>
            <a:ext cx="23865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Deep Learning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48640" y="4526285"/>
            <a:ext cx="2606100" cy="1051500"/>
          </a:xfrm>
          <a:prstGeom prst="roundRect">
            <a:avLst>
              <a:gd fmla="val 8696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658368" y="4526285"/>
            <a:ext cx="23865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3337560" y="4526285"/>
            <a:ext cx="2606100" cy="1051500"/>
          </a:xfrm>
          <a:prstGeom prst="roundRect">
            <a:avLst>
              <a:gd fmla="val 8696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3447288" y="4526285"/>
            <a:ext cx="23865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Processamento de Linguagem Natural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126480" y="4526285"/>
            <a:ext cx="2606100" cy="1051500"/>
          </a:xfrm>
          <a:prstGeom prst="roundRect">
            <a:avLst>
              <a:gd fmla="val 8696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6236208" y="4526285"/>
            <a:ext cx="23865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Engenharia de Prompt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8915400" y="4526285"/>
            <a:ext cx="2606100" cy="1051500"/>
          </a:xfrm>
          <a:prstGeom prst="roundRect">
            <a:avLst>
              <a:gd fmla="val 8696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9025128" y="4526285"/>
            <a:ext cx="23865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Engenharia de Features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ATIVIDADE 1  •  EXEMPLO PRÁTICO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Como perguntar para a IA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Um bom pedido (prompt) já ajuda a IA a responder melhor: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822960" y="1965960"/>
            <a:ext cx="7680960" cy="1234440"/>
          </a:xfrm>
          <a:prstGeom prst="roundRect">
            <a:avLst>
              <a:gd fmla="val 11111" name="adj"/>
            </a:avLst>
          </a:prstGeom>
          <a:solidFill>
            <a:srgbClr val="EAF6F4"/>
          </a:solidFill>
          <a:ln cap="flat" cmpd="sng" w="1587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1051560" y="1965960"/>
            <a:ext cx="7223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Explique o que é </a:t>
            </a:r>
            <a:r>
              <a:rPr b="1" i="1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“inteligência artificial”</a:t>
            </a:r>
            <a:r>
              <a:rPr b="0" i="1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1500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de forma simples e direta</a:t>
            </a:r>
            <a:r>
              <a:rPr b="0" i="1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, usando um exemplo do</a:t>
            </a:r>
            <a:r>
              <a:rPr i="1" lang="en-US" sz="1500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dia a dia. Voc</a:t>
            </a:r>
            <a:r>
              <a:rPr i="1" lang="en-US" sz="1500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ê pode incluir imagens, se possível.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822960" y="3593592"/>
            <a:ext cx="164592" cy="16459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1143000" y="344728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00"/>
              <a:buFont typeface="Calibri"/>
              <a:buNone/>
            </a:pPr>
            <a:r>
              <a:rPr lang="en-US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Seja explícito no que você deseja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822960" y="4160520"/>
            <a:ext cx="164592" cy="16459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1143000" y="4014216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Peça um exemplo do dia a dia para facilitar o entendimento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822960" y="4727448"/>
            <a:ext cx="164592" cy="16459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1143000" y="4581144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Se não entender, peça: "explique de outro jeito, mais simples"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9784080" y="2194560"/>
            <a:ext cx="1371600" cy="13716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lightbulb_FFFFFF.png" id="196" name="Google Shape;19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0696" y="2551176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Encontro 1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SOCIALIZAÇÃO  •  35–50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Nossa nuvem de palavras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548640" y="1325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O glossário coletivo da turma, construído ao vivo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548640" y="1965960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1143000" y="1892808"/>
            <a:ext cx="6126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Cada grupo compartilha, em voz alta, sua explicação do termo pesquisado.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548640" y="2651760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1143000" y="2578608"/>
            <a:ext cx="6126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O professor abre o Google Colab e adiciona as palavras-chave da explicação de cada grupo em uma lista.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548640" y="3337560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1143000" y="3264408"/>
            <a:ext cx="6126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Ao rodar a célula de código, a turma vê a nuvem de palavras crescer — esse é o glossário da turma!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7589520" y="1965960"/>
            <a:ext cx="4023360" cy="3931920"/>
          </a:xfrm>
          <a:prstGeom prst="roundRect">
            <a:avLst>
              <a:gd fmla="val 3488" name="adj"/>
            </a:avLst>
          </a:prstGeom>
          <a:solidFill>
            <a:srgbClr val="0234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9144000" y="2331720"/>
            <a:ext cx="914400" cy="9144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cloud_FFFFFF.png" id="218" name="Google Shape;21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1744" y="256946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8"/>
          <p:cNvSpPr/>
          <p:nvPr/>
        </p:nvSpPr>
        <p:spPr>
          <a:xfrm>
            <a:off x="7818120" y="342900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7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FC7C4"/>
                </a:solidFill>
                <a:latin typeface="Calibri"/>
                <a:ea typeface="Calibri"/>
                <a:cs typeface="Calibri"/>
                <a:sym typeface="Calibri"/>
              </a:rPr>
              <a:t>Abrir no Google Colab: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7818120" y="3749040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01-mentes-conectadas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.ipynb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7818120" y="4434840"/>
            <a:ext cx="3566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EFE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DEFEC"/>
                </a:solidFill>
                <a:latin typeface="Calibri"/>
                <a:ea typeface="Calibri"/>
                <a:cs typeface="Calibri"/>
                <a:sym typeface="Calibri"/>
              </a:rPr>
              <a:t>Seção 1 do notebook do Encontro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Encontro 1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ENGENHARIA DE FEATURES  •  50–75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O que são "features"?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548640" y="1600200"/>
            <a:ext cx="6492240" cy="1965960"/>
          </a:xfrm>
          <a:prstGeom prst="roundRect">
            <a:avLst>
              <a:gd fmla="val 6977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868680" y="1783080"/>
            <a:ext cx="58521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Features </a:t>
            </a:r>
            <a:r>
              <a:rPr b="0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(características) são as informações que descrevemos sobre algo, para que a IA consiga observar, comparar e decidir.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548640" y="3749040"/>
            <a:ext cx="6492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É como se a IA só enxergasse o mundo através das características que damos a ela.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9052560" y="1737360"/>
            <a:ext cx="1828800" cy="18288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puzzle_FFFFFF.png" id="235" name="Google Shape;23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8048" y="2212848"/>
            <a:ext cx="877824" cy="877824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9"/>
          <p:cNvSpPr/>
          <p:nvPr/>
        </p:nvSpPr>
        <p:spPr>
          <a:xfrm>
            <a:off x="7315200" y="3794760"/>
            <a:ext cx="4206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Dado bruto  →  Feature  →  Decisão da 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Encontro 1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ENGENHARIA DE FEATURES  •  EXEMPLO GUIADO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Maçã ou banana?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548640" y="132588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Quais características ajudariam uma IA a diferenciar as duas frutas?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640080" y="1965960"/>
            <a:ext cx="1188720" cy="11887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apple_FFFFFF.png" id="248" name="Google Shape;24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147" y="2275027"/>
            <a:ext cx="570586" cy="570586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0"/>
          <p:cNvSpPr/>
          <p:nvPr/>
        </p:nvSpPr>
        <p:spPr>
          <a:xfrm>
            <a:off x="2103120" y="1965960"/>
            <a:ext cx="2377440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2103120" y="196596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4480560" y="1965960"/>
            <a:ext cx="3383280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4480560" y="196596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🍎 Maçã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7863840" y="1965960"/>
            <a:ext cx="3383280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7863840" y="196596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🍌 Banana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2103120" y="2468880"/>
            <a:ext cx="2377440" cy="502920"/>
          </a:xfrm>
          <a:prstGeom prst="rect">
            <a:avLst/>
          </a:prstGeom>
          <a:solidFill>
            <a:srgbClr val="EAF6F4"/>
          </a:solidFill>
          <a:ln cap="flat" cmpd="sng" w="12700">
            <a:solidFill>
              <a:srgbClr val="D6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2103120" y="246888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Cor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4480560" y="2468880"/>
            <a:ext cx="3383280" cy="502920"/>
          </a:xfrm>
          <a:prstGeom prst="rect">
            <a:avLst/>
          </a:prstGeom>
          <a:solidFill>
            <a:srgbClr val="EAF6F4"/>
          </a:solidFill>
          <a:ln cap="flat" cmpd="sng" w="12700">
            <a:solidFill>
              <a:srgbClr val="D6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4480560" y="246888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Vermelha ou verde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7863840" y="2468880"/>
            <a:ext cx="3383280" cy="502920"/>
          </a:xfrm>
          <a:prstGeom prst="rect">
            <a:avLst/>
          </a:prstGeom>
          <a:solidFill>
            <a:srgbClr val="EAF6F4"/>
          </a:solidFill>
          <a:ln cap="flat" cmpd="sng" w="12700">
            <a:solidFill>
              <a:srgbClr val="D6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7863840" y="246888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Amarela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2103120" y="2971800"/>
            <a:ext cx="237744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2103120" y="29718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Formato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4480560" y="2971800"/>
            <a:ext cx="338328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4480560" y="297180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Arredondado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7863840" y="2971800"/>
            <a:ext cx="338328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7863840" y="297180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Alongado e curvo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2103120" y="3474720"/>
            <a:ext cx="2377440" cy="502920"/>
          </a:xfrm>
          <a:prstGeom prst="rect">
            <a:avLst/>
          </a:prstGeom>
          <a:solidFill>
            <a:srgbClr val="EAF6F4"/>
          </a:solidFill>
          <a:ln cap="flat" cmpd="sng" w="12700">
            <a:solidFill>
              <a:srgbClr val="D6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2103120" y="347472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Textura da casca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4480560" y="3474720"/>
            <a:ext cx="3383280" cy="502920"/>
          </a:xfrm>
          <a:prstGeom prst="rect">
            <a:avLst/>
          </a:prstGeom>
          <a:solidFill>
            <a:srgbClr val="EAF6F4"/>
          </a:solidFill>
          <a:ln cap="flat" cmpd="sng" w="12700">
            <a:solidFill>
              <a:srgbClr val="D6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4480560" y="347472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Lisa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7863840" y="3474720"/>
            <a:ext cx="3383280" cy="502920"/>
          </a:xfrm>
          <a:prstGeom prst="rect">
            <a:avLst/>
          </a:prstGeom>
          <a:solidFill>
            <a:srgbClr val="EAF6F4"/>
          </a:solidFill>
          <a:ln cap="flat" cmpd="sng" w="12700">
            <a:solidFill>
              <a:srgbClr val="D6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7863840" y="347472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Lisa, com pequenos pontos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2103120" y="3977640"/>
            <a:ext cx="237744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2103120" y="397764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Tamanho médio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4480560" y="3977640"/>
            <a:ext cx="338328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4480560" y="397764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Pequeno/médio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7863840" y="3977640"/>
            <a:ext cx="338328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7863840" y="397764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Médio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548640" y="470916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Vamos montar essa tabela ao vivo no Google Colab e ver como um pequeno código usa essas features para "decidir" qual fruta é qual.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Encontro 1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ATIVIDADE PRÁTICA  •  75–90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Vira Feature!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548640" y="13258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Em grupos, escolham um problema do dia a dia e listem as features que uma IA precisaria observar para resolvê-lo.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548640" y="2148840"/>
            <a:ext cx="2514600" cy="3291840"/>
          </a:xfrm>
          <a:prstGeom prst="roundRect">
            <a:avLst>
              <a:gd fmla="val 4364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1394460" y="2423160"/>
            <a:ext cx="822960" cy="8229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users_FFFFFF.png" id="292" name="Google Shape;29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8430" y="263713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1"/>
          <p:cNvSpPr/>
          <p:nvPr/>
        </p:nvSpPr>
        <p:spPr>
          <a:xfrm>
            <a:off x="658368" y="3429000"/>
            <a:ext cx="229514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Formem grupos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658368" y="3977640"/>
            <a:ext cx="229514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Os mesmos grupos da Atividade 1 (ou novos, se preferir).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3246120" y="2148840"/>
            <a:ext cx="2514600" cy="3291840"/>
          </a:xfrm>
          <a:prstGeom prst="roundRect">
            <a:avLst>
              <a:gd fmla="val 4364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4091940" y="2423160"/>
            <a:ext cx="822960" cy="8229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flag_FFFFFF.png" id="297" name="Google Shape;29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05910" y="263713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1"/>
          <p:cNvSpPr/>
          <p:nvPr/>
        </p:nvSpPr>
        <p:spPr>
          <a:xfrm>
            <a:off x="3355848" y="3429000"/>
            <a:ext cx="229514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Escolham um problema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3355848" y="3977640"/>
            <a:ext cx="229514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Usem os exemplos do slide seguinte ou criem um problema próprio.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5943600" y="2148840"/>
            <a:ext cx="2514600" cy="3291840"/>
          </a:xfrm>
          <a:prstGeom prst="roundRect">
            <a:avLst>
              <a:gd fmla="val 4364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6789420" y="2423160"/>
            <a:ext cx="822960" cy="8229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list_FFFFFF.png" id="302" name="Google Shape;30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3390" y="263713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1"/>
          <p:cNvSpPr/>
          <p:nvPr/>
        </p:nvSpPr>
        <p:spPr>
          <a:xfrm>
            <a:off x="6053328" y="3429000"/>
            <a:ext cx="229514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Listem as features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6053328" y="3977640"/>
            <a:ext cx="229514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Quais características a IA observaria para tomar a decisão?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8641080" y="2148840"/>
            <a:ext cx="2514600" cy="3291840"/>
          </a:xfrm>
          <a:prstGeom prst="roundRect">
            <a:avLst>
              <a:gd fmla="val 4364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9486900" y="2423160"/>
            <a:ext cx="822960" cy="8229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puzzle_FFFFFF.png" id="307" name="Google Shape;30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00870" y="263713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1"/>
          <p:cNvSpPr/>
          <p:nvPr/>
        </p:nvSpPr>
        <p:spPr>
          <a:xfrm>
            <a:off x="8750808" y="3429000"/>
            <a:ext cx="229514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Registrem no Colab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8750808" y="3977640"/>
            <a:ext cx="229514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Preencham o modelo pronto no notebook do Encontro 1.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Encontro 1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ATIVIDADE PRÁTICA  •  IDEIAS PARA ESCOLHER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Alguns problemas para inspirar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548640" y="1600200"/>
            <a:ext cx="5166360" cy="1737360"/>
          </a:xfrm>
          <a:prstGeom prst="roundRect">
            <a:avLst>
              <a:gd fmla="val 6316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777240" y="182880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puzzle_FFFFFF.png" id="321" name="Google Shape;32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3661" y="199522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2"/>
          <p:cNvSpPr/>
          <p:nvPr/>
        </p:nvSpPr>
        <p:spPr>
          <a:xfrm>
            <a:off x="1600200" y="1801368"/>
            <a:ext cx="3886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Identificar e-mail spam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914400" y="265176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Features possíveis: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914400" y="2898648"/>
            <a:ext cx="4617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Remetente, palavras usadas, links suspeitos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6035040" y="1600200"/>
            <a:ext cx="5166360" cy="1737360"/>
          </a:xfrm>
          <a:prstGeom prst="roundRect">
            <a:avLst>
              <a:gd fmla="val 6316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2"/>
          <p:cNvSpPr/>
          <p:nvPr/>
        </p:nvSpPr>
        <p:spPr>
          <a:xfrm>
            <a:off x="6263640" y="1828800"/>
            <a:ext cx="640080" cy="6400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puzzle_FFFFFF.png" id="327" name="Google Shape;32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0061" y="199522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2"/>
          <p:cNvSpPr/>
          <p:nvPr/>
        </p:nvSpPr>
        <p:spPr>
          <a:xfrm>
            <a:off x="7086600" y="1801368"/>
            <a:ext cx="3886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Prever se vai chover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6400800" y="265176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Features possíveis: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6400800" y="2898648"/>
            <a:ext cx="4617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Umidade, nuvens no céu, temperatura, pressão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548640" y="3611880"/>
            <a:ext cx="5166360" cy="1737360"/>
          </a:xfrm>
          <a:prstGeom prst="roundRect">
            <a:avLst>
              <a:gd fmla="val 6316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777240" y="384048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puzzle_FFFFFF.png" id="333" name="Google Shape;33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3661" y="400690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2"/>
          <p:cNvSpPr/>
          <p:nvPr/>
        </p:nvSpPr>
        <p:spPr>
          <a:xfrm>
            <a:off x="1600200" y="3813048"/>
            <a:ext cx="3886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Recomendar um filme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914400" y="466344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Features possíveis: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914400" y="4910328"/>
            <a:ext cx="4617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Gêneros que a pessoa já assistiu, nota, duração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6035040" y="3611880"/>
            <a:ext cx="5166360" cy="1737360"/>
          </a:xfrm>
          <a:prstGeom prst="roundRect">
            <a:avLst>
              <a:gd fmla="val 6316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2"/>
          <p:cNvSpPr/>
          <p:nvPr/>
        </p:nvSpPr>
        <p:spPr>
          <a:xfrm>
            <a:off x="6263640" y="3840480"/>
            <a:ext cx="640080" cy="6400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puzzle_FFFFFF.png" id="339" name="Google Shape;33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0061" y="400690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2"/>
          <p:cNvSpPr/>
          <p:nvPr/>
        </p:nvSpPr>
        <p:spPr>
          <a:xfrm>
            <a:off x="7086600" y="3813048"/>
            <a:ext cx="3886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Reconhecer um rosto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6400800" y="466344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Features possíveis: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6400800" y="4910328"/>
            <a:ext cx="4617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Distância entre os olhos, formato do rosto, formato do nariz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Encontro 1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3436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3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FECHAMENTO  •  90–100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731508" y="1079005"/>
            <a:ext cx="1554600" cy="15546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flag_FFFFFF.png" id="352" name="Google Shape;35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735" y="1475820"/>
            <a:ext cx="746150" cy="7461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3"/>
          <p:cNvSpPr/>
          <p:nvPr/>
        </p:nvSpPr>
        <p:spPr>
          <a:xfrm>
            <a:off x="2560320" y="1417320"/>
            <a:ext cx="8961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 que levamos de hoje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2560320" y="2057400"/>
            <a:ext cx="8961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Já entendemos o básico sobre dados, features e como a IA "enxerga" o mundo.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731520" y="2935224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1051560" y="2770632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Construímos juntos um glossário de IA — a nossa nuvem de palavras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731520" y="3438144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3"/>
          <p:cNvSpPr/>
          <p:nvPr/>
        </p:nvSpPr>
        <p:spPr>
          <a:xfrm>
            <a:off x="1051560" y="3273552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Aprendemos o que são features e por que elas importam para a 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731520" y="3941064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3"/>
          <p:cNvSpPr/>
          <p:nvPr/>
        </p:nvSpPr>
        <p:spPr>
          <a:xfrm>
            <a:off x="1051560" y="3776472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Praticamos identificando features em problemas reais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731520" y="4663440"/>
            <a:ext cx="10698480" cy="1371600"/>
          </a:xfrm>
          <a:prstGeom prst="roundRect">
            <a:avLst>
              <a:gd fmla="val 10000" name="adj"/>
            </a:avLst>
          </a:prstGeom>
          <a:solidFill>
            <a:srgbClr val="0B4E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3"/>
          <p:cNvSpPr/>
          <p:nvPr/>
        </p:nvSpPr>
        <p:spPr>
          <a:xfrm>
            <a:off x="1005840" y="48463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7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FC7C4"/>
                </a:solidFill>
                <a:latin typeface="Calibri"/>
                <a:ea typeface="Calibri"/>
                <a:cs typeface="Calibri"/>
                <a:sym typeface="Calibri"/>
              </a:rPr>
              <a:t>No próximo encontro: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1005840" y="5166360"/>
            <a:ext cx="10149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Como uma IA aprende de verdade? Vamos treinar nosso primeiro modelo no Google Colab!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7C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FC7C4"/>
                </a:solidFill>
                <a:latin typeface="Calibri"/>
                <a:ea typeface="Calibri"/>
                <a:cs typeface="Calibri"/>
                <a:sym typeface="Calibri"/>
              </a:rPr>
              <a:t>Encontro 1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C7C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FC7C4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3436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74d896a37_0_11"/>
          <p:cNvSpPr/>
          <p:nvPr/>
        </p:nvSpPr>
        <p:spPr>
          <a:xfrm>
            <a:off x="5166360" y="914400"/>
            <a:ext cx="1828800" cy="18288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brain_FFFFFF.png" id="372" name="Google Shape;372;g3f74d896a37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1848" y="1389888"/>
            <a:ext cx="877824" cy="877824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g3f74d896a37_0_11"/>
          <p:cNvSpPr/>
          <p:nvPr/>
        </p:nvSpPr>
        <p:spPr>
          <a:xfrm>
            <a:off x="731520" y="2880360"/>
            <a:ext cx="10698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Mentes Conectadas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f74d896a37_0_11"/>
          <p:cNvSpPr/>
          <p:nvPr/>
        </p:nvSpPr>
        <p:spPr>
          <a:xfrm>
            <a:off x="731520" y="3611880"/>
            <a:ext cx="1069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os Segredos da Inteligência Artificial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f74d896a37_0_11"/>
          <p:cNvSpPr/>
          <p:nvPr/>
        </p:nvSpPr>
        <p:spPr>
          <a:xfrm>
            <a:off x="5166360" y="4343400"/>
            <a:ext cx="1828800" cy="27300"/>
          </a:xfrm>
          <a:prstGeom prst="rect">
            <a:avLst/>
          </a:prstGeom>
          <a:solidFill>
            <a:srgbClr val="0B5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f74d896a37_0_11"/>
          <p:cNvSpPr/>
          <p:nvPr/>
        </p:nvSpPr>
        <p:spPr>
          <a:xfrm>
            <a:off x="731520" y="4572000"/>
            <a:ext cx="1069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3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Obrigado</a:t>
            </a:r>
            <a:endParaRPr b="1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3f74d896a37_0_11"/>
          <p:cNvSpPr/>
          <p:nvPr/>
        </p:nvSpPr>
        <p:spPr>
          <a:xfrm>
            <a:off x="731520" y="6126480"/>
            <a:ext cx="10698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C7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FC7C4"/>
                </a:solidFill>
                <a:latin typeface="Calibri"/>
                <a:ea typeface="Calibri"/>
                <a:cs typeface="Calibri"/>
                <a:sym typeface="Calibri"/>
              </a:rPr>
              <a:t>ECIT José Rodrigues de Ataíde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2026-08-17T21:21:46Z</dcterms:created>
  <dc:creator>PptxGenJS</dc:creator>
</cp:coreProperties>
</file>