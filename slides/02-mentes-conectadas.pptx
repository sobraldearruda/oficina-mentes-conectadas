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JutAHjZh+1ps8Yej5WP1UCbQg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3e7691e8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f3e7691e8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3e7691e8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g_FFFFFF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48" y="138988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Mentes Conectadas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os Segredos da Inteligência Artificial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166360" y="4343400"/>
            <a:ext cx="1828800" cy="27432"/>
          </a:xfrm>
          <a:prstGeom prst="rect">
            <a:avLst/>
          </a:prstGeom>
          <a:solidFill>
            <a:srgbClr val="0B5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Encontro 2  •  Como uma IA aprende?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 ECIT José Rodrigues de Ataíde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ROTEIRO DO ENCONTRO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que vamos fazer hoje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00200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160020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606040" y="160020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Retomada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89320" y="160020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Revisão do glossário e das features do Encontro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359152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235915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10–30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606040" y="235915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Como os modelos aprendem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89320" y="2359152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Treino, erro e ajuste — a lógica por trás do aprendizado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118104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48640" y="311810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30–55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606040" y="3118104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Primeiro contato com o Colab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89320" y="3118104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Demonstração guiada: uma IA aprendendo a distinguir frutas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3877056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48640" y="387705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55–80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606040" y="3877056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Atividade prática guiada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89320" y="3877056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Treinamos juntos um classificador de frases no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4636008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48640" y="463600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80–95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606040" y="4636008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Comparando ferramentas de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989320" y="4636008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Claude, ChatGPT e Gemini respondendo ao mesmo pedido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5394960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8640" y="539496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95–100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606040" y="53949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Fechamento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989320" y="539496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Recapitulação e prévia do próximo encontro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RETOMADA  •  0–10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que vimos no Encontro 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Antes de seguir, vamos relembrar juntos: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2377440"/>
            <a:ext cx="3429000" cy="2834640"/>
          </a:xfrm>
          <a:prstGeom prst="roundRect">
            <a:avLst>
              <a:gd fmla="val 3871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805940" y="269748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loud_FFFFFF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684" y="29352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731520" y="37947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Nossa nuvem de palavras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glossário coletivo com os termos de IA que a turma pesquisou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251960" y="2377440"/>
            <a:ext cx="3429000" cy="2834640"/>
          </a:xfrm>
          <a:prstGeom prst="roundRect">
            <a:avLst>
              <a:gd fmla="val 3871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509260" y="269748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uzzle_FFFFFF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7004" y="29352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4434840" y="37947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Features (características)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480560" y="434340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As informações que descrevemos para que a IA observe e decida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955280" y="2377440"/>
            <a:ext cx="3429000" cy="2834640"/>
          </a:xfrm>
          <a:prstGeom prst="roundRect">
            <a:avLst>
              <a:gd fmla="val 3871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212580" y="269748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apple_FFFFFF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0324" y="29352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8138160" y="37947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Maçã ou banana?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183880" y="434340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exemplo em que usamos cor e formato como 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Hoje vamos além: como a IA usa esses dados e features para aprender por conta própria?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COMO OS MODELOS APRENDEM  •  10–30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Treino, erro e ajuste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554480"/>
            <a:ext cx="6400800" cy="2286000"/>
          </a:xfrm>
          <a:prstGeom prst="roundRect">
            <a:avLst>
              <a:gd fmla="val 6000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68680" y="1737360"/>
            <a:ext cx="585216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Uma IA aprende olhando para </a:t>
            </a: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muitos exemplos</a:t>
            </a:r>
            <a:r>
              <a:rPr b="0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, tentando prever a resposta certa, comparando com a resposta real e </a:t>
            </a: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ajustando</a:t>
            </a:r>
            <a:r>
              <a:rPr b="0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 suas próprias regras quando erra — repetindo esse processo muitas vezes.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406640" y="1691640"/>
            <a:ext cx="1737360" cy="17373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dog_FFFFFF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354" y="2143354"/>
            <a:ext cx="833933" cy="83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9464040" y="1691640"/>
            <a:ext cx="1737360" cy="1737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at_FFFFFF.png" id="94" name="Google Shape;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5754" y="2143354"/>
            <a:ext cx="833933" cy="83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7315200" y="352044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Assim como aprendemos a diferenciar cães de gatos vendo muitas fotos — sem que ninguém nos entregue uma fórmula pronta.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4297680"/>
            <a:ext cx="2606040" cy="868680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40080" y="42976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Tenta prever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109005" y="4297618"/>
            <a:ext cx="137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91840" y="4297680"/>
            <a:ext cx="2606040" cy="868680"/>
          </a:xfrm>
          <a:prstGeom prst="roundRect">
            <a:avLst>
              <a:gd fmla="val 1052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383280" y="42976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Compara com a resposta certa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852199" y="4297625"/>
            <a:ext cx="137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35040" y="4297680"/>
            <a:ext cx="2606040" cy="868680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126480" y="42976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Ajusta as regras internas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595405" y="4297618"/>
            <a:ext cx="137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778240" y="4297680"/>
            <a:ext cx="2606040" cy="868680"/>
          </a:xfrm>
          <a:prstGeom prst="roundRect">
            <a:avLst>
              <a:gd fmla="val 1052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869680" y="4297680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Repete milhares de vezes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COMO OS MODELOS APRENDEM  •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Dados de treino e dados de teste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Para saber se a IA aprendeu de verdade, ela precisa ser testada com exemplos que nunca viu.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188720" y="2377440"/>
            <a:ext cx="1463040" cy="14630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cale_FFFFFF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110" y="2757830"/>
            <a:ext cx="702259" cy="702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3291840" y="2148840"/>
            <a:ext cx="4206240" cy="1920240"/>
          </a:xfrm>
          <a:prstGeom prst="roundRect">
            <a:avLst>
              <a:gd fmla="val 7143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520440" y="2331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Dados de TREINO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520440" y="2724912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 maior parte dos exemplos, usada para a IA aprender os padrões.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772400" y="2148840"/>
            <a:ext cx="3840480" cy="1920240"/>
          </a:xfrm>
          <a:prstGeom prst="roundRect">
            <a:avLst>
              <a:gd fmla="val 7143" name="adj"/>
            </a:avLst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001000" y="23317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Dados de TESTE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001000" y="2724912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Exemplos novos, guardados para conferir se a IA realmente aprendeu.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É a mesma lógica de uma prova escolar: estudar com uma lista de exercícios (treino) e depois ser avaliado com questões diferentes (teste), para saber se o conteúdo foi realmente aprendido.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DEMONSTRAÇÃO GUIADA  •  30–55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Uma IA aprendendo a distinguir frutas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" y="205740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lay_FFFFFF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22357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417320" y="200253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Rodar uma célula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417320" y="238658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Clique no botão ▶️ à esquerda da célula, ou use Shift + Enter.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301752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st_FFFFFF.png"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3195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1417320" y="296265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Ordem importa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417320" y="334670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As células devem ser executadas de cima para baixo — cada uma pode depender da anterior.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397764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branch_FFFFFF.png" id="144" name="Google Shape;14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41559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417320" y="392277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 IA aprende sozinha as regras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417320" y="430682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Ao contrário do Encontro 1, agora não escrevemos as regras — damos exemplos e o modelo aprende os padrões.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fmla="val 11818" name="adj"/>
            </a:avLst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822960" y="5212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Abrir no Google Colab: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02-mentes-conectadas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.ipynb  —  Seção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PRÁTICA  •  55–80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Treinando um classificador de frases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Vamos treinar, juntos, uma IA que aprende a diferenciar elogios de reclamações.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22960" y="2286000"/>
            <a:ext cx="1371600" cy="1371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thumbsup_FFFFFF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576" y="264261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2468880" y="2148840"/>
            <a:ext cx="4206240" cy="1645920"/>
          </a:xfrm>
          <a:prstGeom prst="roundRect">
            <a:avLst>
              <a:gd fmla="val 7222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2697480" y="233172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"A aula de hoje foi ótima, aprendi muito!"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697480" y="30632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ELOGIO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315200" y="228600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thumbsdown_FFFFFF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1816" y="264261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8961120" y="2148840"/>
            <a:ext cx="2651760" cy="1645920"/>
          </a:xfrm>
          <a:prstGeom prst="roundRect">
            <a:avLst>
              <a:gd fmla="val 7222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9144000" y="23317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"O wi-fi da escola nunca funciona."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144000" y="3200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RECLAMAÇÃO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 turma vai fornecer frases de exemplo já classificadas (treino) para que o modelo aprenda o padrão — e depois testar com frases novas.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PRÁTICA  •  PASSO A PASSO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Como vamos treinar o modelo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users_FFFFFF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1051560" y="1783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417320" y="1819656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Cada grupo sugere frases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417320" y="2203704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2 elogios e 2 reclamações sobre o dia a dia da escola, em voz alta.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2898648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st_FFFFFF.png"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307695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1051560" y="28072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417320" y="2843784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 professor registra no Colab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417320" y="322783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As frases entram na lista de treino, já com o rótulo (elogio/reclamação).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3922776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g_FFFFFF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41010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1051560" y="38313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417320" y="38679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 modelo é treinado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417320" y="425196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Ao rodar a célula, a IA aprende sozinha os padrões que diferenciam os dois grupos.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48640" y="4946904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earch_FFFFFF.png" id="196" name="Google Shape;19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948" y="51252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1051560" y="4855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417320" y="489204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 turma testa o modelo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417320" y="527608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Cada grupo cria uma frase nova (que a IA nunca viu) para testar se ela acerta.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IA GENERATIVA  •  80–95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Comparando ferramentas de 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Todas usam IA — mas será que respondem da mesma forma?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2148840"/>
            <a:ext cx="237744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25880" y="23774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mments_FFFFFF.png" id="212" name="Google Shape;2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50" y="25914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54864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200400" y="2148840"/>
            <a:ext cx="237744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3977640" y="23774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robot_FFFFFF.png" id="216" name="Google Shape;2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610" y="25914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320040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852160" y="2148840"/>
            <a:ext cx="2377440" cy="1737360"/>
          </a:xfrm>
          <a:prstGeom prst="roundRect">
            <a:avLst>
              <a:gd fmla="val 631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629400" y="23774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loud_FFFFFF.png" id="220" name="Google Shape;22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3370" y="25914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585216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778240" y="2651760"/>
            <a:ext cx="1188720" cy="11887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exchange_FFFFFF.png" id="223" name="Google Shape;22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87307" y="2960827"/>
            <a:ext cx="570586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Peçam a MESMA coisa para as três ferramentas e comparem: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472744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868680" y="45902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estilo da resposta (formal, criativa, direta...)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640" y="516636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868680" y="5029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tamanho e nível de detalhe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5605272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868680" y="546811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Se alguma errou ou "inventou" alguma informação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IA GENERATIVA  •  EXEMPLO PRÁTICO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Um prompt para testar nas três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22960" y="1691640"/>
            <a:ext cx="7863840" cy="1371600"/>
          </a:xfrm>
          <a:prstGeom prst="roundRect">
            <a:avLst>
              <a:gd fmla="val 10000" name="adj"/>
            </a:avLst>
          </a:prstGeom>
          <a:solidFill>
            <a:srgbClr val="EAF6F4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1051560" y="1691640"/>
            <a:ext cx="7406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"Crie uma pequena história (3 frases) sobre um estudante que descobre o mundo da inteligência artificial."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9144000" y="182880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9293" y="2114093"/>
            <a:ext cx="526694" cy="52669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Preencham juntos, em voz alta, uma tabela comparativa: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8640" y="3886200"/>
            <a:ext cx="219456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48640" y="3886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Ferramenta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743200" y="3886200"/>
            <a:ext cx="443484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2743200" y="388620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foi a resposta?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178040" y="3886200"/>
            <a:ext cx="443484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7178040" y="388620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chamou atenção?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8640" y="4389120"/>
            <a:ext cx="219456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48640" y="43891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743200" y="4389120"/>
            <a:ext cx="443484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2743200" y="438912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178040" y="4389120"/>
            <a:ext cx="443484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7178040" y="438912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48640" y="4892040"/>
            <a:ext cx="21945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548640" y="48920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743200" y="4892040"/>
            <a:ext cx="44348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2743200" y="48920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178040" y="4892040"/>
            <a:ext cx="44348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7178040" y="48920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48640" y="5394960"/>
            <a:ext cx="219456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548640" y="53949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743200" y="5394960"/>
            <a:ext cx="443484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2743200" y="539496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178040" y="5394960"/>
            <a:ext cx="4434840" cy="502920"/>
          </a:xfrm>
          <a:prstGeom prst="rect">
            <a:avLst/>
          </a:prstGeom>
          <a:solidFill>
            <a:srgbClr val="EAF6F4"/>
          </a:solidFill>
          <a:ln cap="flat" cmpd="sng" w="12700">
            <a:solidFill>
              <a:srgbClr val="D6E9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7178040" y="539496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FECHAMENTO  •  95–100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31508" y="1248168"/>
            <a:ext cx="1554600" cy="15546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flag_FFFFFF.png" id="278" name="Google Shape;2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735" y="1652320"/>
            <a:ext cx="746150" cy="7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/>
          <p:nvPr/>
        </p:nvSpPr>
        <p:spPr>
          <a:xfrm>
            <a:off x="2560320" y="141732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levamos de hoje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560320" y="205740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Entendemos como uma IA aprende de verdade a partir de exemplos.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31520" y="293522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1051560" y="277063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Vimos o ciclo de treino, erro e ajuste — e por que dividimos dados em treino e teste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31520" y="343814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1051560" y="327355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Treinamos, ao vivo, um classificador de frases (elogio vs. reclamação)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31520" y="394106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1051560" y="37764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Comparamos como Claude, ChatGPT e Gemini respondem ao mesmo pedido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731520" y="4663440"/>
            <a:ext cx="10698480" cy="1371600"/>
          </a:xfrm>
          <a:prstGeom prst="roundRect">
            <a:avLst>
              <a:gd fmla="val 10000" name="adj"/>
            </a:avLst>
          </a:prstGeom>
          <a:solidFill>
            <a:srgbClr val="0B4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1005840" y="4846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No próximo encontro: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005840" y="5166360"/>
            <a:ext cx="10149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Onde a IA aparece na nossa vida — e como usá-la com responsabilidade e ética.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Encontro 2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3e7691e88_0_0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g_FFFFFF.png" id="298" name="Google Shape;298;g3f3e7691e8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48" y="138988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3e7691e88_0_0"/>
          <p:cNvSpPr/>
          <p:nvPr/>
        </p:nvSpPr>
        <p:spPr>
          <a:xfrm>
            <a:off x="731520" y="2880360"/>
            <a:ext cx="1069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Mentes Conectadas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3e7691e88_0_0"/>
          <p:cNvSpPr/>
          <p:nvPr/>
        </p:nvSpPr>
        <p:spPr>
          <a:xfrm>
            <a:off x="731520" y="361188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os Segredos da Inteligência Artificial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3e7691e88_0_0"/>
          <p:cNvSpPr/>
          <p:nvPr/>
        </p:nvSpPr>
        <p:spPr>
          <a:xfrm>
            <a:off x="5166360" y="4343400"/>
            <a:ext cx="1828800" cy="27300"/>
          </a:xfrm>
          <a:prstGeom prst="rect">
            <a:avLst/>
          </a:prstGeom>
          <a:solidFill>
            <a:srgbClr val="0B5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3e7691e88_0_0"/>
          <p:cNvSpPr/>
          <p:nvPr/>
        </p:nvSpPr>
        <p:spPr>
          <a:xfrm>
            <a:off x="731520" y="457200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3e7691e88_0_0"/>
          <p:cNvSpPr/>
          <p:nvPr/>
        </p:nvSpPr>
        <p:spPr>
          <a:xfrm>
            <a:off x="731520" y="6126480"/>
            <a:ext cx="1069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 ECIT José Rodrigues de Ataíde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2026-08-18T16:35:20Z</dcterms:created>
  <dc:creator>PptxGenJS</dc:creator>
</cp:coreProperties>
</file>